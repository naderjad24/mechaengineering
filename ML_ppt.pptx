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2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580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 AUC</c:v>
                </c:pt>
              </c:strCache>
            </c:strRef>
          </c:tx>
          <c:spPr>
            <a:solidFill>
              <a:srgbClr val="94A3B8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7664-4FA7-9A88-173FD729B9B0}"/>
              </c:ext>
            </c:extLst>
          </c:dPt>
          <c:dPt>
            <c:idx val="1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3-7664-4FA7-9A88-173FD729B9B0}"/>
              </c:ext>
            </c:extLst>
          </c:dPt>
          <c:dPt>
            <c:idx val="2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7664-4FA7-9A88-173FD729B9B0}"/>
              </c:ext>
            </c:extLst>
          </c:dPt>
          <c:dPt>
            <c:idx val="3"/>
            <c:invertIfNegative val="0"/>
            <c:bubble3D val="0"/>
            <c:spPr>
              <a:solidFill>
                <a:srgbClr val="2A9D8F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7664-4FA7-9A88-173FD729B9B0}"/>
              </c:ext>
            </c:extLst>
          </c:dPt>
          <c:dPt>
            <c:idx val="4"/>
            <c:invertIfNegative val="0"/>
            <c:bubble3D val="0"/>
            <c:spPr>
              <a:solidFill>
                <a:srgbClr val="E76F51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7664-4FA7-9A88-173FD729B9B0}"/>
              </c:ext>
            </c:extLst>
          </c:dPt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1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DCASE
baseline</c:v>
                </c:pt>
                <c:pt idx="1">
                  <c:v>AST
(transformer)</c:v>
                </c:pt>
                <c:pt idx="2">
                  <c:v>HC_386
(handcrafted)</c:v>
                </c:pt>
                <c:pt idx="3">
                  <c:v>MIMI
(codec)</c:v>
                </c:pt>
                <c:pt idx="4">
                  <c:v>META-STACK
(champion)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0.61</c:v>
                </c:pt>
                <c:pt idx="1">
                  <c:v>0.65400000000000003</c:v>
                </c:pt>
                <c:pt idx="2">
                  <c:v>0.69899999999999995</c:v>
                </c:pt>
                <c:pt idx="3">
                  <c:v>0.71599999999999997</c:v>
                </c:pt>
                <c:pt idx="4">
                  <c:v>0.72550000000000003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7664-4FA7-9A88-173FD729B9B0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264653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85"/>
          <c:min val="0.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0.0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AFC"/>
        </a:solidFill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2067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5029200"/>
            <a:ext cx="5486400" cy="5486400"/>
          </a:xfrm>
          <a:prstGeom prst="ellipse">
            <a:avLst/>
          </a:prstGeom>
          <a:solidFill>
            <a:srgbClr val="2A9D8F">
              <a:alpha val="3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10058400" y="-914400"/>
            <a:ext cx="4572000" cy="4572000"/>
          </a:xfrm>
          <a:prstGeom prst="ellipse">
            <a:avLst/>
          </a:prstGeom>
          <a:solidFill>
            <a:srgbClr val="E76F51">
              <a:alpha val="2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182880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FAN ANOMALY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640080" y="260604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600" b="1" kern="0" spc="4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DETECTION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640080" y="365760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First-Shot Acoustic Anomaly Detection Under Domain Shift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640080" y="41605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DB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DCASE 2024 Task 2  ·  MIMII DUE  ·  Multi-transformer meta-stack + ODE diagnosis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Hafez Al Ghossainy</a:t>
            </a:r>
            <a:r>
              <a:rPr lang="en-US" sz="16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Jad Nader</a:t>
            </a:r>
            <a:r>
              <a:rPr lang="en-US" sz="16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Jean Majdalani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40080" y="626364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 Engineering ML Project · Spring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Industrial machines fail. Their sound changes before they do.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5600" dirty="0"/>
          </a:p>
        </p:txBody>
      </p:sp>
      <p:sp>
        <p:nvSpPr>
          <p:cNvPr id="6" name="Text 4"/>
          <p:cNvSpPr/>
          <p:nvPr/>
        </p:nvSpPr>
        <p:spPr>
          <a:xfrm>
            <a:off x="45720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clips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NORMAL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26280" y="169164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26280" y="1783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</a:t>
            </a:r>
            <a:endParaRPr lang="en-US" sz="5600" dirty="0"/>
          </a:p>
        </p:txBody>
      </p:sp>
      <p:sp>
        <p:nvSpPr>
          <p:cNvPr id="10" name="Text 8"/>
          <p:cNvSpPr/>
          <p:nvPr/>
        </p:nvSpPr>
        <p:spPr>
          <a:xfrm>
            <a:off x="452628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clips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52628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normal · 100 anomaly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595360" y="1691640"/>
            <a:ext cx="3108960" cy="1554480"/>
          </a:xfrm>
          <a:prstGeom prst="roundRect">
            <a:avLst>
              <a:gd name="adj" fmla="val 5882"/>
            </a:avLst>
          </a:prstGeom>
          <a:solidFill>
            <a:srgbClr val="F1F5F9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8595360" y="178308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</a:t>
            </a:r>
            <a:endParaRPr lang="en-US" sz="5600" dirty="0"/>
          </a:p>
        </p:txBody>
      </p:sp>
      <p:sp>
        <p:nvSpPr>
          <p:cNvPr id="14" name="Text 12"/>
          <p:cNvSpPr/>
          <p:nvPr/>
        </p:nvSpPr>
        <p:spPr>
          <a:xfrm>
            <a:off x="8595360" y="26060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recording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0" y="2907792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kHz mono fan audio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11247120" cy="2651760"/>
          </a:xfrm>
          <a:prstGeom prst="roundRect">
            <a:avLst>
              <a:gd name="adj" fmla="val 5172"/>
            </a:avLst>
          </a:prstGeom>
          <a:solidFill>
            <a:srgbClr val="264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22960" y="38404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hard part: domain shift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2960" y="4343400"/>
            <a:ext cx="105156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machine, different conditions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Microphone placement, background noise, operating speed, ambient temperature — all change in deployment.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labeled anomalies for training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Realistic constraint: we only know what NORMAL sounds like. We have to detect everything else.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threshold selection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thresholds set on training-set percentiles only — never tuned on test labels.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complementary feature views, scored with LOF, fused by a logistic-regression meta-stacker.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737360" cy="91440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 w="1905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1920240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.wav · 16 kHz · 10 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83464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83464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MIMI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83464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Kyutai codec (2024)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mean+std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2834640" y="2606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0.716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834640" y="2834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kept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331720" y="2240280"/>
            <a:ext cx="457200" cy="91440"/>
          </a:xfrm>
          <a:prstGeom prst="rightArrow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521208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EF4444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521208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Wav2Vec2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21208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· 1536-d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212080" y="2606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0.579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212080" y="2834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 dropped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58952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58952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AST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58952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· AudioSet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CLS+mean+std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589520" y="2606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0.654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589520" y="2834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kept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9966960" y="1645920"/>
            <a:ext cx="2103120" cy="14630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9966960" y="16916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HC_386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966960" y="2057400"/>
            <a:ext cx="2103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MFCC + Δ + Δ²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spectral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9966960" y="26060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 0.699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9966960" y="2834640"/>
            <a:ext cx="2103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kept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286000" y="4023360"/>
            <a:ext cx="7589520" cy="914400"/>
          </a:xfrm>
          <a:prstGeom prst="roundRect">
            <a:avLst>
              <a:gd name="adj" fmla="val 10000"/>
            </a:avLst>
          </a:prstGeom>
          <a:solidFill>
            <a:srgbClr val="E76F5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2286000" y="4069080"/>
            <a:ext cx="7589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META-STACK </a:t>
            </a: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(Logistic regression over calibrated ranks)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2286000" y="4434840"/>
            <a:ext cx="7589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HC: +4.32   ·   MIMI: +3.00   ·   AST: +1.87   ·   bias: −7.03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286000" y="4709160"/>
            <a:ext cx="7589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FE5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on synthetic pseudo-anomalies (noise + pitch shift + time mask)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371600" y="55321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26465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371600" y="5577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DECISION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371600" y="5897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≥ p85 → flagged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583680" y="5532120"/>
            <a:ext cx="4114800" cy="777240"/>
          </a:xfrm>
          <a:prstGeom prst="roundRect">
            <a:avLst>
              <a:gd name="adj" fmla="val 9412"/>
            </a:avLst>
          </a:prstGeom>
          <a:solidFill>
            <a:srgbClr val="F1F5F9"/>
          </a:solidFill>
          <a:ln w="1270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6583680" y="557784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FAULT DIAGNOSIS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583680" y="58978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harmonic decomposition (post-detection)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meta-stacking works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scorer makes different mistakes. The meta-stacker learns when to trust which one.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14884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112520" y="21945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 score scales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12520" y="36118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Some scorers are stronger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457200" y="4983480"/>
            <a:ext cx="457200" cy="457200"/>
          </a:xfrm>
          <a:prstGeom prst="ellipse">
            <a:avLst/>
          </a:prstGeom>
          <a:solidFill>
            <a:srgbClr val="264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57200" y="49834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112520" y="50292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labels at training time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00800" y="1554480"/>
            <a:ext cx="5303520" cy="4526280"/>
          </a:xfrm>
          <a:prstGeom prst="roundRect">
            <a:avLst>
              <a:gd name="adj" fmla="val 2020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675120" y="1691640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Three-step fix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6675120" y="214884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ECDF calibration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675120" y="24231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scorer → uniform [0, 1] using its own training-CDF. Removes scale mismatch.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675120" y="3108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Pseudo-anomaly meta-training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675120" y="3383280"/>
            <a:ext cx="4937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100 synthetic anomalies (noise + pitch + time-mask) from training clips. Train LR on (calibrated scores, label).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675120" y="425196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Class-weighted cross-entropy loss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675120" y="4526280"/>
            <a:ext cx="49377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Minimizes BCE with class_weight='balanced' to handle the synthetic-label asymmetry. L-BFGS converges in &lt;50 iterations.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675120" y="5532120"/>
            <a:ext cx="4754880" cy="502920"/>
          </a:xfrm>
          <a:prstGeom prst="roundRect">
            <a:avLst>
              <a:gd name="adj" fmla="val 10909"/>
            </a:avLst>
          </a:prstGeom>
          <a:solidFill>
            <a:srgbClr val="264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6675120" y="5532120"/>
            <a:ext cx="4754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Learned weights:  HC +4.32   MIMI +3.00   AST +1.87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57200" y="6263640"/>
            <a:ext cx="11247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0.6990 + 0.7159 + 0.6543 → </a:t>
            </a: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0.7255 </a:t>
            </a:r>
            <a:r>
              <a:rPr lang="en-US" sz="1400" i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(meta-stack beats every single scorer)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 AUC by component, vs DCASE 2024 official baseline.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457200" y="1554480"/>
          <a:ext cx="7132320" cy="4846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7863840" y="1554480"/>
            <a:ext cx="3840480" cy="2011680"/>
          </a:xfrm>
          <a:prstGeom prst="roundRect">
            <a:avLst>
              <a:gd name="adj" fmla="val 4545"/>
            </a:avLst>
          </a:prstGeom>
          <a:solidFill>
            <a:srgbClr val="264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863840" y="1645920"/>
            <a:ext cx="3840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0.7255</a:t>
            </a:r>
            <a:endParaRPr lang="en-US" sz="6000" dirty="0"/>
          </a:p>
        </p:txBody>
      </p:sp>
      <p:sp>
        <p:nvSpPr>
          <p:cNvPr id="7" name="Text 4"/>
          <p:cNvSpPr/>
          <p:nvPr/>
        </p:nvSpPr>
        <p:spPr>
          <a:xfrm>
            <a:off x="7863840" y="260604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Pooled AUC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7863840" y="29718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+11.5 points over DCASE baseline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7863840" y="374904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7955280" y="379476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0.617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9509760" y="379476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pAUC @ 10% FPR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7863840" y="452628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955280" y="457200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0.731</a:t>
            </a:r>
            <a:endParaRPr lang="en-US" sz="2600" dirty="0"/>
          </a:p>
        </p:txBody>
      </p:sp>
      <p:sp>
        <p:nvSpPr>
          <p:cNvPr id="14" name="Text 11"/>
          <p:cNvSpPr/>
          <p:nvPr/>
        </p:nvSpPr>
        <p:spPr>
          <a:xfrm>
            <a:off x="9509760" y="457200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Precision</a:t>
            </a:r>
            <a:endParaRPr lang="en-US" sz="1100" dirty="0"/>
          </a:p>
        </p:txBody>
      </p:sp>
      <p:sp>
        <p:nvSpPr>
          <p:cNvPr id="15" name="Shape 12"/>
          <p:cNvSpPr/>
          <p:nvPr/>
        </p:nvSpPr>
        <p:spPr>
          <a:xfrm>
            <a:off x="7863840" y="5303520"/>
            <a:ext cx="3840480" cy="6858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6350">
            <a:solidFill>
              <a:srgbClr val="E1E5E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955280" y="5349240"/>
            <a:ext cx="14630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0.663</a:t>
            </a:r>
            <a:endParaRPr lang="en-US" sz="2600" dirty="0"/>
          </a:p>
        </p:txBody>
      </p:sp>
      <p:sp>
        <p:nvSpPr>
          <p:cNvPr id="17" name="Text 14"/>
          <p:cNvSpPr/>
          <p:nvPr/>
        </p:nvSpPr>
        <p:spPr>
          <a:xfrm>
            <a:off x="9509760" y="5349240"/>
            <a:ext cx="2103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@ p85 operating point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point P=0.667  R=0.660  flag rate=49.5%   ·   confusion matrix: TN=67  FP=33  FN=34  TP=66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post-detection — physical fault diagnosis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flagged, decompose the spectrum into harmonics of the fan rotation frequency (f₀ = 23.7 Hz) and identify the fault.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45720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1×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UNBALANCE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Rotor mass eccentricity. Debris, broken blade, uneven wear.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83280" y="155448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383280" y="1554480"/>
            <a:ext cx="2743200" cy="457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38328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38328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52044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Shaft parallel/angular misalignment. Coupling, bearing seats.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6309360" y="1554480"/>
            <a:ext cx="2743200" cy="457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630936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4×+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630936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LOOSENESS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44652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High-order harmonics indicate worn fittings, loose bolts.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235440" y="1554480"/>
            <a:ext cx="2743200" cy="2103120"/>
          </a:xfrm>
          <a:prstGeom prst="roundRect">
            <a:avLst>
              <a:gd name="adj" fmla="val 4348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9235440" y="1554480"/>
            <a:ext cx="2743200" cy="457200"/>
          </a:xfrm>
          <a:prstGeom prst="rect">
            <a:avLst/>
          </a:prstGeom>
          <a:solidFill>
            <a:srgbClr val="2A9D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9235440" y="155448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bb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35440" y="21031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BEARING WEAR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372600" y="2514600"/>
            <a:ext cx="246888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Raised broadband floor. Cavitation or bearing degradation.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scale</a:t>
            </a:r>
            <a:endParaRPr lang="en-US" sz="1800" dirty="0"/>
          </a:p>
        </p:txBody>
      </p:sp>
      <p:sp>
        <p:nvSpPr>
          <p:cNvPr id="25" name="Shape 23"/>
          <p:cNvSpPr/>
          <p:nvPr/>
        </p:nvSpPr>
        <p:spPr>
          <a:xfrm>
            <a:off x="457200" y="4434840"/>
            <a:ext cx="2194560" cy="868680"/>
          </a:xfrm>
          <a:prstGeom prst="roundRect">
            <a:avLst>
              <a:gd name="adj" fmla="val 5263"/>
            </a:avLst>
          </a:prstGeom>
          <a:solidFill>
            <a:srgbClr val="95A5A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45720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5720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&lt;70%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743200" y="4434840"/>
            <a:ext cx="2194560" cy="868680"/>
          </a:xfrm>
          <a:prstGeom prst="roundRect">
            <a:avLst>
              <a:gd name="adj" fmla="val 5263"/>
            </a:avLst>
          </a:prstGeom>
          <a:solidFill>
            <a:srgbClr val="2ECC7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74320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DEGRAD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74320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70-85%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5029200" y="4434840"/>
            <a:ext cx="2194560" cy="868680"/>
          </a:xfrm>
          <a:prstGeom prst="roundRect">
            <a:avLst>
              <a:gd name="adj" fmla="val 5263"/>
            </a:avLst>
          </a:prstGeom>
          <a:solidFill>
            <a:srgbClr val="F1C40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502920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02920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85-95%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7315200" y="4434840"/>
            <a:ext cx="2194560" cy="868680"/>
          </a:xfrm>
          <a:prstGeom prst="roundRect">
            <a:avLst>
              <a:gd name="adj" fmla="val 5263"/>
            </a:avLst>
          </a:prstGeom>
          <a:solidFill>
            <a:srgbClr val="E67E2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7315200" y="45262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315200" y="48920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95-99%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601200" y="4434840"/>
            <a:ext cx="2103120" cy="868680"/>
          </a:xfrm>
          <a:prstGeom prst="roundRect">
            <a:avLst>
              <a:gd name="adj" fmla="val 5263"/>
            </a:avLst>
          </a:prstGeom>
          <a:solidFill>
            <a:srgbClr val="E74C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9601200" y="452628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601200" y="489204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&gt;99%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57200" y="5440680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severity = percentile of meta-stack score in training distribution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57200" y="5943600"/>
            <a:ext cx="11247120" cy="640080"/>
          </a:xfrm>
          <a:prstGeom prst="roundRect">
            <a:avLst>
              <a:gd name="adj" fmla="val 8571"/>
            </a:avLst>
          </a:prstGeom>
          <a:solidFill>
            <a:srgbClr val="264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</a:t>
            </a: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· decision · severity gauge · fault label · physical rationale · harmonic z-scores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26465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learned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9DB1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takeaways from 25+ pipeline iterations.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worked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77240" y="21031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Gating before fusion.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Refusing to add a transformer that didn't beat its threshold (Wav2Vec2 dropped at 0.579) saved us from dilution.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ECDF calibration.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every scorer on the same [0,1] scale before LR was the difference between fusion working and fusion making things worse.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777240" y="40233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thresholds.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Picking thresholds at training-set percentiles, not test-set quantiles, cost us a few F1 points but produced a defensible operating point.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77240" y="49834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ODE post-detection.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Mechanical-engineering interpretability layered on top of an ML detector — what makes this a course-relevant project, not just a Kaggle entry.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486400" cy="4572000"/>
          </a:xfrm>
          <a:prstGeom prst="roundRect">
            <a:avLst>
              <a:gd name="adj" fmla="val 2000"/>
            </a:avLst>
          </a:prstGeom>
          <a:solidFill>
            <a:srgbClr val="FFFFFF">
              <a:alpha val="5000"/>
            </a:srgbClr>
          </a:solidFill>
          <a:ln w="19050">
            <a:solidFill>
              <a:srgbClr val="E76F5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400800" y="16916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E76F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we did not score higher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37960" y="210312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 ceiling ≈ 0.73.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15+ iterations across multiple paradigms converged here. We treat this as the dataset's ceiling under unsupervised constraints.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537960" y="306324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real anomaly labels.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Pseudo-anomalies (noise + pitch + time-mask) imperfectly mimic real fan faults. This is the dominant residual error source.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537960" y="402336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shift.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Source-domain AUC &gt; target-domain AUC. Source-only training cannot fully bridge operating-condition shifts.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37960" y="4983480"/>
            <a:ext cx="4983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Compute budget. </a:t>
            </a: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Larger transformer fine-tuning was outside our Colab GPU budget — we used pretrained encoders only.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35508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0.7255 AUC  ·  +11.5 over DCASE baseline  ·  shipped as Docker image with web UI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notebook to production: containerized service, REST API, drag-and-drop web UI.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3154680" cy="42062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🐳 Docker image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40080" y="224028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Multi-stage build with HuggingFace weights baked in.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command to deploy: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docker run -p 8000:8000 fan-anomaly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Healthcheck on /health.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640080" y="5166360"/>
            <a:ext cx="278892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40080" y="51663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ship to Docker Hub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526280" y="1554480"/>
            <a:ext cx="3154680" cy="42062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709160" y="1691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⚡ FastAPI service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709160" y="224028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/score with .wav  →  JSON response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score (float)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decision (normal/anomaly)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severity_pct (0-100)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fault label + rationale</a:t>
            </a: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harm z-scores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4709160" y="5166360"/>
            <a:ext cx="278892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4709160" y="51663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docs at /docs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8595360" y="1554480"/>
            <a:ext cx="3154680" cy="4206240"/>
          </a:xfrm>
          <a:prstGeom prst="roundRect">
            <a:avLst>
              <a:gd name="adj" fmla="val 2899"/>
            </a:avLst>
          </a:prstGeom>
          <a:solidFill>
            <a:srgbClr val="FFFFFF"/>
          </a:solidFill>
          <a:ln w="19050">
            <a:solidFill>
              <a:srgbClr val="2A9D8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778240" y="16916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Web UI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778240" y="2240280"/>
            <a:ext cx="278892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Drag-and-drop a clip → see severity gauge, decision banner, fault diagnosis, and harmonic z-bars in real time.</a:t>
            </a:r>
            <a:endParaRPr lang="en-US" sz="1150" dirty="0"/>
          </a:p>
          <a:p>
            <a:pPr marL="0" indent="0">
              <a:buNone/>
            </a:pPr>
            <a:endParaRPr lang="en-US" sz="1150" dirty="0"/>
          </a:p>
          <a:p>
            <a:pPr marL="0" indent="0">
              <a:buNone/>
            </a:pPr>
            <a:r>
              <a:rPr lang="en-US" sz="1150" dirty="0">
                <a:solidFill>
                  <a:srgbClr val="1F29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build step — single HTML file served by FastAPI.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778240" y="5166360"/>
            <a:ext cx="2788920" cy="411480"/>
          </a:xfrm>
          <a:prstGeom prst="roundRect">
            <a:avLst>
              <a:gd name="adj" fmla="val 11111"/>
            </a:avLst>
          </a:prstGeom>
          <a:solidFill>
            <a:srgbClr val="F1F5F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8778240" y="516636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at localhost:8000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57200" y="5989320"/>
            <a:ext cx="11247120" cy="594360"/>
          </a:xfrm>
          <a:prstGeom prst="roundRect">
            <a:avLst>
              <a:gd name="adj" fmla="val 9231"/>
            </a:avLst>
          </a:prstGeom>
          <a:solidFill>
            <a:srgbClr val="264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7200" y="598932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github.com/&lt;group&gt;/fan-anomaly-detection</a:t>
            </a: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hub.docker.com/r/&lt;account&gt;/fan-anomaly</a:t>
            </a:r>
            <a:r>
              <a:rPr lang="en-US" sz="1300" dirty="0">
                <a:solidFill>
                  <a:srgbClr val="2A9D8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</a:t>
            </a:r>
            <a:r>
              <a:rPr lang="en-US" sz="13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 licensed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50075" y="-2743200"/>
            <a:ext cx="10972800" cy="10972800"/>
          </a:xfrm>
          <a:prstGeom prst="ellipse">
            <a:avLst/>
          </a:prstGeom>
          <a:solidFill>
            <a:srgbClr val="264653">
              <a:alpha val="5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7315200" y="3657600"/>
            <a:ext cx="7315200" cy="7315200"/>
          </a:xfrm>
          <a:prstGeom prst="ellipse">
            <a:avLst/>
          </a:prstGeom>
          <a:solidFill>
            <a:srgbClr val="2A9D8F">
              <a:alpha val="40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640080" y="2194560"/>
            <a:ext cx="10972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2646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8000" dirty="0"/>
          </a:p>
        </p:txBody>
      </p:sp>
      <p:sp>
        <p:nvSpPr>
          <p:cNvPr id="6" name="Shape 4"/>
          <p:cNvSpPr/>
          <p:nvPr/>
        </p:nvSpPr>
        <p:spPr>
          <a:xfrm>
            <a:off x="640080" y="5029200"/>
            <a:ext cx="10972800" cy="1280160"/>
          </a:xfrm>
          <a:prstGeom prst="roundRect">
            <a:avLst>
              <a:gd name="adj" fmla="val 7143"/>
            </a:avLst>
          </a:prstGeom>
          <a:solidFill>
            <a:srgbClr val="26465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22960" y="5212080"/>
            <a:ext cx="106984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 demo: 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docker run -p 8000:8000 &lt;account&gt;/fan-anomaly</a:t>
            </a:r>
            <a:endParaRPr lang="en-US" sz="1400" dirty="0"/>
          </a:p>
          <a:p>
            <a:pPr marL="0" indent="0">
              <a:buNone/>
            </a:pP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Repo: github.com/&lt;group&gt;/fan-anomaly-detection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272</TotalTime>
  <Words>1014</Words>
  <Application>Microsoft Office PowerPoint</Application>
  <PresentationFormat>Widescreen</PresentationFormat>
  <Paragraphs>164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Fan Anomaly Detection</dc:title>
  <dc:subject>PptxGenJS Presentation</dc:subject>
  <dc:creator>Fan Anomaly Detection Team</dc:creator>
  <cp:lastModifiedBy>Hafez Ghoussainy</cp:lastModifiedBy>
  <cp:revision>3</cp:revision>
  <dcterms:created xsi:type="dcterms:W3CDTF">2026-04-25T11:11:33Z</dcterms:created>
  <dcterms:modified xsi:type="dcterms:W3CDTF">2026-04-25T18:41:18Z</dcterms:modified>
</cp:coreProperties>
</file>